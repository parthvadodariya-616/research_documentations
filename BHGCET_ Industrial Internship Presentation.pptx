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76" r:id="rId20"/>
    <p:sldId id="277" r:id="rId21"/>
    <p:sldId id="275" r:id="rId22"/>
    <p:sldId id="279" r:id="rId23"/>
    <p:sldId id="280" r:id="rId24"/>
    <p:sldId id="281" r:id="rId25"/>
    <p:sldId id="282" r:id="rId26"/>
    <p:sldId id="283" r:id="rId27"/>
    <p:sldId id="284" r:id="rId28"/>
    <p:sldId id="269" r:id="rId2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A000B8-EE99-6ED3-EF1D-F74E28A51E87}" v="355" dt="2026-02-27T04:37:26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0057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950794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4F897A3-E2DD-4915-8E5C-B3C88B66EB07}" type="datetimeFigureOut">
              <a:rPr lang="en-US"/>
              <a:t>4/1/2026</a:t>
            </a:fld>
            <a:endParaRPr lang="en-US"/>
          </a:p>
        </p:txBody>
      </p:sp>
      <p:sp>
        <p:nvSpPr>
          <p:cNvPr id="1468592660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464327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9898789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9994222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A0774BB-29E0-432B-984E-8937031B6F1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4229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377981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2253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D61328-8B4D-CF04-2BAD-F96397C718C1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08775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595839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1435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527227-1F5B-4024-907C-BF22798DC7A1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607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523490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33630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527227-1F5B-4024-907C-BF22798DC7A1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09505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9144004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1874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527227-1F5B-4024-907C-BF22798DC7A1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971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0999" y="685800"/>
            <a:ext cx="6095999" cy="3429000"/>
          </a:xfrm>
        </p:spPr>
      </p:sp>
      <p:sp>
        <p:nvSpPr>
          <p:cNvPr id="579694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3126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C6E480-792C-B9AE-8883-6A8FA0D609E3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7B2CA-A21C-CDFD-89E6-097EFE1B654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97125" name="Slide Image Placeholder 1">
            <a:extLst>
              <a:ext uri="{FF2B5EF4-FFF2-40B4-BE49-F238E27FC236}">
                <a16:creationId xmlns:a16="http://schemas.microsoft.com/office/drawing/2014/main" id="{0B852E58-F77E-4392-CBAB-98DF43B81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579694038" name="Notes Placeholder 2">
            <a:extLst>
              <a:ext uri="{FF2B5EF4-FFF2-40B4-BE49-F238E27FC236}">
                <a16:creationId xmlns:a16="http://schemas.microsoft.com/office/drawing/2014/main" id="{A35B4970-AC6B-37F3-413D-DF7B584E83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3126085" name="Slide Number Placeholder 3">
            <a:extLst>
              <a:ext uri="{FF2B5EF4-FFF2-40B4-BE49-F238E27FC236}">
                <a16:creationId xmlns:a16="http://schemas.microsoft.com/office/drawing/2014/main" id="{A1B16F57-0EA6-7224-241E-1B4A857A8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C6E480-792C-B9AE-8883-6A8FA0D609E3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26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60005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370439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8117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527227-1F5B-4024-907C-BF22798DC7A1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85813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54023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442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527227-1F5B-4024-907C-BF22798DC7A1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1221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090138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7901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527227-1F5B-4024-907C-BF22798DC7A1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7588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6117354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5483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A29E19-CDEC-5041-2040-48E7BE18A81E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04650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953425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883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06CC63-46E7-35E3-E759-21D5C3FC2A90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84973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9788913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8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B3FCC9-9DEB-4EED-2A67-555CB2820BCF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90783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832856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8114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C511A8-C749-6C12-8D61-90F1EDE57B3D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46627-8AE4-2E54-27BF-6DAD33AA016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2E69E564-6846-6CEA-738B-EA6755DB6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7D8A7077-467E-41DF-D2CC-30F2831FA3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3463FCCA-FDDB-7EC8-2E75-1BA434689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67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04EBC-E4CA-16C1-B775-D656F57D95D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3834EC15-76A0-C10E-1492-B3D47BB41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7D1F2F07-48EA-77AD-79C6-A942B79999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2B5E4614-3B50-E8F8-497D-36425A6DA4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247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965BD-2D57-E3FA-C551-2BA8CD54D7B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3D44A55B-9C44-54DB-5B18-334F766DD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7777C717-7036-EB67-B5B7-610BE5997B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F8132EB6-779E-535D-D282-3AD71A2B1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17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27B6C-7DFB-3C0D-5E58-A644C41F406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3A1BAE0E-4ACF-C472-B83D-A14DCD08B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C1BD09FD-F5A6-0DB3-A90D-00E0D5C227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7879CD7E-4628-D47A-F4F8-49D2C3EFB6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112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E9EA6-34CD-0464-710C-A2F6CA7D576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299BD737-F654-9852-7AC1-BF9021C4C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A3C5073E-A716-0E75-449F-2B3B310B93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E58667B5-8DC8-B2AB-D0D4-44CA4D101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78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1315F-57A9-206A-6EE8-92114C3930B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8BF3DB79-0EA5-AFF9-285A-8D32868DE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D65084BD-4161-A7DD-FCDD-F9486A1303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3B7DCA4C-C960-8A79-8C80-EA8CCC274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99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8282A-9377-AEB8-76C2-5F9FCDE5C79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D8C7EC6D-D3A6-9F64-8BEE-D8263E517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8B4BF3EA-1ACA-1120-997D-4C4E4D70C9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B29CD6B3-67BF-D2D1-05A3-AA60548C3B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735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F25E3-FE04-3500-308A-30EBA1BDA40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D82F398F-CD6B-8B8C-A713-8A765C9BF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BF767A46-5D61-68F9-372C-39B5108F86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A4603E7A-3B86-60C6-A23B-8EC694D797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06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FB5D0-FD40-06CA-0E8D-811016D9E07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EF53647A-01E5-0753-3465-4AE2D3906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CE7904E1-75CD-F9BB-B799-4849B43662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96C5FD76-B16D-8684-C50C-0060520D3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480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2F6D7-1EB9-807B-6183-CA4BF969E90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6C09BD8C-F656-6E7E-0678-FDD0DBCCE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1C4C9237-D68D-9AE4-9DC3-004255DB8D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C3C46354-20B4-DAAB-D05E-44C489CA74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705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BD2C0-6655-607E-AB56-7A485C7A6A5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AE575562-444A-B8FC-B9E0-42C0F7D66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0D5B3FBF-7468-BAFA-6BB2-8C0B8FAACE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ACE22AED-B840-C761-98DF-73806FB383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292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ECC62-53B9-B265-FD3E-70CD9A937E8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BD9FBB5B-173E-CA1D-654B-5DCAC3A39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879D8D9A-7783-DD54-9135-E5CB3BD266D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15A4F257-82E8-3944-4C24-2DA99DC981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348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6850-7DFC-B022-45EA-34D8490F512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13029" name="Slide Image Placeholder 1">
            <a:extLst>
              <a:ext uri="{FF2B5EF4-FFF2-40B4-BE49-F238E27FC236}">
                <a16:creationId xmlns:a16="http://schemas.microsoft.com/office/drawing/2014/main" id="{086C372D-E7B3-FAFF-1D99-ACDD40382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7007354" name="Notes Placeholder 2">
            <a:extLst>
              <a:ext uri="{FF2B5EF4-FFF2-40B4-BE49-F238E27FC236}">
                <a16:creationId xmlns:a16="http://schemas.microsoft.com/office/drawing/2014/main" id="{B7387C40-C6B9-28DD-B196-9B97D022C6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230952" name="Slide Number Placeholder 3">
            <a:extLst>
              <a:ext uri="{FF2B5EF4-FFF2-40B4-BE49-F238E27FC236}">
                <a16:creationId xmlns:a16="http://schemas.microsoft.com/office/drawing/2014/main" id="{AE708A25-8FFC-F812-99EF-138B77E674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4848C-DA17-DF96-DC17-33C10F6E27CD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440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24AED7-F146-7CA3-53B4-38CFBC2A2731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829923" name="Rectangle 6"/>
          <p:cNvSpPr/>
          <p:nvPr/>
        </p:nvSpPr>
        <p:spPr bwMode="auto">
          <a:xfrm>
            <a:off x="597456" y="3085764"/>
            <a:ext cx="10986811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42603467" name="Title 1"/>
          <p:cNvSpPr>
            <a:spLocks noGrp="1"/>
          </p:cNvSpPr>
          <p:nvPr>
            <p:ph type="ctrTitle"/>
          </p:nvPr>
        </p:nvSpPr>
        <p:spPr bwMode="auto">
          <a:xfrm>
            <a:off x="774924" y="990600"/>
            <a:ext cx="10653003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917279436" name="Subtitle 2"/>
          <p:cNvSpPr>
            <a:spLocks noGrp="1"/>
          </p:cNvSpPr>
          <p:nvPr>
            <p:ph type="subTitle" idx="1"/>
          </p:nvPr>
        </p:nvSpPr>
        <p:spPr bwMode="auto">
          <a:xfrm>
            <a:off x="774924" y="2495447"/>
            <a:ext cx="10653003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974483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253DF2B3-7BA6-451E-A003-89646F920BF0}" type="datetimeFigureOut">
              <a:rPr lang="en-US"/>
              <a:t>4/1/2026</a:t>
            </a:fld>
            <a:endParaRPr lang="en-US"/>
          </a:p>
        </p:txBody>
      </p:sp>
      <p:sp>
        <p:nvSpPr>
          <p:cNvPr id="12878297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80484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B9B6FF6B-31F4-4409-9B54-607EF711C1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60991" name="Rectangle 6"/>
          <p:cNvSpPr>
            <a:spLocks noChangeAspect="1"/>
          </p:cNvSpPr>
          <p:nvPr/>
        </p:nvSpPr>
        <p:spPr bwMode="auto">
          <a:xfrm>
            <a:off x="597458" y="599728"/>
            <a:ext cx="1098494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658269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477740220" name="Content Placeholder 2"/>
          <p:cNvSpPr>
            <a:spLocks noGrp="1"/>
          </p:cNvSpPr>
          <p:nvPr>
            <p:ph idx="1"/>
          </p:nvPr>
        </p:nvSpPr>
        <p:spPr bwMode="auto">
          <a:xfrm>
            <a:off x="774924" y="2228006"/>
            <a:ext cx="10653003" cy="3630795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7480358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3DF2B3-7BA6-451E-A003-89646F920BF0}" type="datetimeFigureOut">
              <a:rPr lang="en-US"/>
              <a:t>4/1/2026</a:t>
            </a:fld>
            <a:endParaRPr lang="en-US"/>
          </a:p>
        </p:txBody>
      </p:sp>
      <p:sp>
        <p:nvSpPr>
          <p:cNvPr id="9350481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1036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B6FF6B-31F4-4409-9B54-607EF711C1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03856" name="Rectangle 7"/>
          <p:cNvSpPr>
            <a:spLocks noChangeAspect="1"/>
          </p:cNvSpPr>
          <p:nvPr/>
        </p:nvSpPr>
        <p:spPr bwMode="auto">
          <a:xfrm>
            <a:off x="603530" y="5141976"/>
            <a:ext cx="1098494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88816677" name="Title 1"/>
          <p:cNvSpPr>
            <a:spLocks noGrp="1"/>
          </p:cNvSpPr>
          <p:nvPr>
            <p:ph type="title"/>
          </p:nvPr>
        </p:nvSpPr>
        <p:spPr bwMode="auto">
          <a:xfrm>
            <a:off x="774926" y="3036573"/>
            <a:ext cx="1065300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803419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74926" y="4541417"/>
            <a:ext cx="1065300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7118107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253DF2B3-7BA6-451E-A003-89646F920BF0}" type="datetimeFigureOut">
              <a:rPr lang="en-US"/>
              <a:t>4/1/2026</a:t>
            </a:fld>
            <a:endParaRPr lang="en-US"/>
          </a:p>
        </p:txBody>
      </p:sp>
      <p:sp>
        <p:nvSpPr>
          <p:cNvPr id="12190884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5452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B9B6FF6B-31F4-4409-9B54-607EF711C1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187471" name="Rectangle 7"/>
          <p:cNvSpPr>
            <a:spLocks noChangeAspect="1"/>
          </p:cNvSpPr>
          <p:nvPr/>
        </p:nvSpPr>
        <p:spPr bwMode="auto">
          <a:xfrm>
            <a:off x="597458" y="599728"/>
            <a:ext cx="1098494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985097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81548949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774925" y="2228004"/>
            <a:ext cx="5199369" cy="363304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83329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17709" y="2228004"/>
            <a:ext cx="5210216" cy="363304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454200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3DF2B3-7BA6-451E-A003-89646F920BF0}" type="datetimeFigureOut">
              <a:rPr lang="en-US"/>
              <a:t>4/1/2026</a:t>
            </a:fld>
            <a:endParaRPr lang="en-US"/>
          </a:p>
        </p:txBody>
      </p:sp>
      <p:sp>
        <p:nvSpPr>
          <p:cNvPr id="11363811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91886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B6FF6B-31F4-4409-9B54-607EF711C1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228025" name="Rectangle 9"/>
          <p:cNvSpPr>
            <a:spLocks noChangeAspect="1"/>
          </p:cNvSpPr>
          <p:nvPr/>
        </p:nvSpPr>
        <p:spPr bwMode="auto">
          <a:xfrm>
            <a:off x="597458" y="599728"/>
            <a:ext cx="1098494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771866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3429849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82960" y="2228003"/>
            <a:ext cx="4791333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56042692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74925" y="2926054"/>
            <a:ext cx="5199369" cy="2934999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12191072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625746" y="2228003"/>
            <a:ext cx="480218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62787906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217709" y="2926054"/>
            <a:ext cx="5210216" cy="2934999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6089616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3DF2B3-7BA6-451E-A003-89646F920BF0}" type="datetimeFigureOut">
              <a:rPr lang="en-US"/>
              <a:t>4/1/2026</a:t>
            </a:fld>
            <a:endParaRPr lang="en-US"/>
          </a:p>
        </p:txBody>
      </p:sp>
      <p:sp>
        <p:nvSpPr>
          <p:cNvPr id="129351391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564519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B6FF6B-31F4-4409-9B54-607EF711C1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086002" name="Rectangle 5"/>
          <p:cNvSpPr>
            <a:spLocks noChangeAspect="1"/>
          </p:cNvSpPr>
          <p:nvPr/>
        </p:nvSpPr>
        <p:spPr bwMode="auto">
          <a:xfrm>
            <a:off x="597458" y="599728"/>
            <a:ext cx="1098494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699742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87842751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3DF2B3-7BA6-451E-A003-89646F920BF0}" type="datetimeFigureOut">
              <a:rPr lang="en-US"/>
              <a:t>4/1/2026</a:t>
            </a:fld>
            <a:endParaRPr lang="en-US"/>
          </a:p>
        </p:txBody>
      </p:sp>
      <p:sp>
        <p:nvSpPr>
          <p:cNvPr id="193364281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32764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B6FF6B-31F4-4409-9B54-607EF711C1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42930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3DF2B3-7BA6-451E-A003-89646F920BF0}" type="datetimeFigureOut">
              <a:rPr lang="en-US"/>
              <a:t>4/1/2026</a:t>
            </a:fld>
            <a:endParaRPr lang="en-US"/>
          </a:p>
        </p:txBody>
      </p:sp>
      <p:sp>
        <p:nvSpPr>
          <p:cNvPr id="143329721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192084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B6FF6B-31F4-4409-9B54-607EF711C1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34808" name="Rectangle 8"/>
          <p:cNvSpPr>
            <a:spLocks noChangeAspect="1"/>
          </p:cNvSpPr>
          <p:nvPr/>
        </p:nvSpPr>
        <p:spPr bwMode="auto">
          <a:xfrm>
            <a:off x="603530" y="5141973"/>
            <a:ext cx="10984943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51352945" name="Title 1"/>
          <p:cNvSpPr>
            <a:spLocks noGrp="1"/>
          </p:cNvSpPr>
          <p:nvPr>
            <p:ph type="title"/>
          </p:nvPr>
        </p:nvSpPr>
        <p:spPr bwMode="auto">
          <a:xfrm>
            <a:off x="775138" y="5262296"/>
            <a:ext cx="4715500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12040051" name="Content Placeholder 2"/>
          <p:cNvSpPr>
            <a:spLocks noGrp="1"/>
          </p:cNvSpPr>
          <p:nvPr>
            <p:ph idx="1"/>
          </p:nvPr>
        </p:nvSpPr>
        <p:spPr bwMode="auto">
          <a:xfrm>
            <a:off x="595198" y="601200"/>
            <a:ext cx="109872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69249244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5740825" y="5262298"/>
            <a:ext cx="5687103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9008763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253DF2B3-7BA6-451E-A003-89646F920BF0}" type="datetimeFigureOut">
              <a:rPr lang="en-US"/>
              <a:t>4/1/2026</a:t>
            </a:fld>
            <a:endParaRPr lang="en-US"/>
          </a:p>
        </p:txBody>
      </p:sp>
      <p:sp>
        <p:nvSpPr>
          <p:cNvPr id="12205889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77991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B9B6FF6B-31F4-4409-9B54-607EF711C1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375685" name="Title 1"/>
          <p:cNvSpPr>
            <a:spLocks noGrp="1"/>
          </p:cNvSpPr>
          <p:nvPr>
            <p:ph type="title"/>
          </p:nvPr>
        </p:nvSpPr>
        <p:spPr bwMode="auto">
          <a:xfrm>
            <a:off x="774924" y="4693389"/>
            <a:ext cx="10653003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874744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97459" y="599725"/>
            <a:ext cx="10984941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0978556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74924" y="5260129"/>
            <a:ext cx="10653003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3317567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3DF2B3-7BA6-451E-A003-89646F920BF0}" type="datetimeFigureOut">
              <a:rPr lang="en-US"/>
              <a:t>4/1/2026</a:t>
            </a:fld>
            <a:endParaRPr lang="en-US"/>
          </a:p>
        </p:txBody>
      </p:sp>
      <p:sp>
        <p:nvSpPr>
          <p:cNvPr id="16788299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24016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B6FF6B-31F4-4409-9B54-607EF711C1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860190" name="Rectangle 6"/>
          <p:cNvSpPr>
            <a:spLocks noChangeAspect="1"/>
          </p:cNvSpPr>
          <p:nvPr/>
        </p:nvSpPr>
        <p:spPr bwMode="auto">
          <a:xfrm>
            <a:off x="597458" y="599728"/>
            <a:ext cx="10984943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627450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09206209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765749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3DF2B3-7BA6-451E-A003-89646F920BF0}" type="datetimeFigureOut">
              <a:rPr lang="en-US"/>
              <a:t>4/1/2026</a:t>
            </a:fld>
            <a:endParaRPr lang="en-US"/>
          </a:p>
        </p:txBody>
      </p:sp>
      <p:sp>
        <p:nvSpPr>
          <p:cNvPr id="12342169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55287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B6FF6B-31F4-4409-9B54-607EF711C1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868146" name="Rectangle 6"/>
          <p:cNvSpPr>
            <a:spLocks noChangeAspect="1"/>
          </p:cNvSpPr>
          <p:nvPr/>
        </p:nvSpPr>
        <p:spPr bwMode="auto">
          <a:xfrm>
            <a:off x="8839202" y="599725"/>
            <a:ext cx="27431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388886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202" y="675728"/>
            <a:ext cx="2004164" cy="5183073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3352189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774925" y="675728"/>
            <a:ext cx="7896279" cy="5183073"/>
          </a:xfrm>
        </p:spPr>
        <p:txBody>
          <a:bodyPr vert="eaVert" anchor="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1243874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993673" y="5956139"/>
            <a:ext cx="1263563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253DF2B3-7BA6-451E-A003-89646F920BF0}" type="datetimeFigureOut">
              <a:rPr lang="en-US"/>
              <a:t>4/1/2026</a:t>
            </a:fld>
            <a:endParaRPr lang="en-US"/>
          </a:p>
        </p:txBody>
      </p:sp>
      <p:sp>
        <p:nvSpPr>
          <p:cNvPr id="108405447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774925" y="5951813"/>
            <a:ext cx="7896279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41503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B9B6FF6B-31F4-4409-9B54-607EF711C1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tretch>
            <a:fillRect l="70000" t="2000" b="81000"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445573" name="Title Placeholder 1"/>
          <p:cNvSpPr>
            <a:spLocks noGrp="1"/>
          </p:cNvSpPr>
          <p:nvPr>
            <p:ph type="title"/>
          </p:nvPr>
        </p:nvSpPr>
        <p:spPr bwMode="auto">
          <a:xfrm>
            <a:off x="774924" y="687477"/>
            <a:ext cx="10653003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392336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74924" y="2228003"/>
            <a:ext cx="10653003" cy="3630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13913263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412436" y="595613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fld id="{253DF2B3-7BA6-451E-A003-89646F920BF0}" type="datetimeFigureOut">
              <a:rPr lang="en-US"/>
              <a:t>4/1/2026</a:t>
            </a:fld>
            <a:endParaRPr lang="en-US"/>
          </a:p>
        </p:txBody>
      </p:sp>
      <p:sp>
        <p:nvSpPr>
          <p:cNvPr id="85868381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774925" y="5951813"/>
            <a:ext cx="6494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67844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400636" y="5956139"/>
            <a:ext cx="10272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fld id="{B9B6FF6B-31F4-4409-9B54-607EF711C1E9}" type="slidenum">
              <a:rPr lang="en-US"/>
              <a:t>‹#›</a:t>
            </a:fld>
            <a:endParaRPr lang="en-US"/>
          </a:p>
        </p:txBody>
      </p:sp>
      <p:sp>
        <p:nvSpPr>
          <p:cNvPr id="1993888156" name="Rectangle 8"/>
          <p:cNvSpPr/>
          <p:nvPr/>
        </p:nvSpPr>
        <p:spPr bwMode="auto">
          <a:xfrm>
            <a:off x="597457" y="441325"/>
            <a:ext cx="3626545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41235148" name="Rectangle 9"/>
          <p:cNvSpPr/>
          <p:nvPr/>
        </p:nvSpPr>
        <p:spPr bwMode="auto">
          <a:xfrm>
            <a:off x="7968001" y="441325"/>
            <a:ext cx="36144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49651331" name="Rectangle 10"/>
          <p:cNvSpPr/>
          <p:nvPr/>
        </p:nvSpPr>
        <p:spPr bwMode="auto">
          <a:xfrm>
            <a:off x="4288801" y="441325"/>
            <a:ext cx="36144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>
        <a:spcBef>
          <a:spcPts val="0"/>
        </a:spcBef>
        <a:buNone/>
        <a:defRPr sz="2800" b="0" cap="all">
          <a:solidFill>
            <a:schemeClr val="bg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06000" indent="-306000" algn="l" defTabSz="457200" rtl="0">
        <a:spcBef>
          <a:spcPts val="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8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>
        <a:spcBef>
          <a:spcPts val="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6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>
        <a:spcBef>
          <a:spcPts val="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4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>
        <a:spcBef>
          <a:spcPts val="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>
        <a:spcBef>
          <a:spcPts val="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>
        <a:spcBef>
          <a:spcPts val="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>
        <a:spcBef>
          <a:spcPts val="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>
        <a:spcBef>
          <a:spcPts val="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>
        <a:spcBef>
          <a:spcPts val="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636238" name="Title 8"/>
          <p:cNvSpPr txBox="1"/>
          <p:nvPr/>
        </p:nvSpPr>
        <p:spPr bwMode="auto">
          <a:xfrm>
            <a:off x="6505867" y="4801267"/>
            <a:ext cx="2571750" cy="685800"/>
          </a:xfrm>
          <a:prstGeom prst="rect">
            <a:avLst/>
          </a:prstGeom>
        </p:spPr>
        <p:txBody>
          <a:bodyPr vert="horz" lIns="51435" tIns="25717" rIns="51435" bIns="25717" rtlCol="0" anchor="ctr">
            <a:normAutofit/>
          </a:bodyPr>
          <a:lstStyle/>
          <a:p>
            <a:pPr algn="ctr" defTabSz="514350">
              <a:spcBef>
                <a:spcPts val="0"/>
              </a:spcBef>
              <a:defRPr/>
            </a:pPr>
            <a:endParaRPr lang="en-US" sz="900">
              <a:latin typeface="Times New Roman"/>
              <a:ea typeface="Arial"/>
              <a:cs typeface="Times New Roman"/>
            </a:endParaRPr>
          </a:p>
        </p:txBody>
      </p:sp>
      <p:sp>
        <p:nvSpPr>
          <p:cNvPr id="1470147819" name="Title 8"/>
          <p:cNvSpPr txBox="1"/>
          <p:nvPr/>
        </p:nvSpPr>
        <p:spPr bwMode="auto">
          <a:xfrm>
            <a:off x="457198" y="327241"/>
            <a:ext cx="6048667" cy="642937"/>
          </a:xfrm>
          <a:prstGeom prst="rect">
            <a:avLst/>
          </a:prstGeom>
        </p:spPr>
        <p:txBody>
          <a:bodyPr vert="horz" lIns="51435" tIns="25717" rIns="51435" bIns="25717" rtlCol="0" anchor="ctr">
            <a:noAutofit/>
          </a:bodyPr>
          <a:lstStyle/>
          <a:p>
            <a:pPr algn="ctr" defTabSz="514350">
              <a:spcBef>
                <a:spcPts val="0"/>
              </a:spcBef>
              <a:defRPr/>
            </a:pPr>
            <a:r>
              <a:rPr lang="en-US" sz="2000">
                <a:latin typeface="Arial Rounded MT Bold"/>
                <a:ea typeface="Arial"/>
                <a:cs typeface="Times New Roman"/>
              </a:rPr>
              <a:t>DEPARTMENT OF COMPUTER ENGINEERING</a:t>
            </a:r>
            <a:endParaRPr/>
          </a:p>
        </p:txBody>
      </p:sp>
      <p:sp>
        <p:nvSpPr>
          <p:cNvPr id="837383138" name="Rectangle 9"/>
          <p:cNvSpPr/>
          <p:nvPr/>
        </p:nvSpPr>
        <p:spPr bwMode="auto">
          <a:xfrm>
            <a:off x="1667766" y="2598863"/>
            <a:ext cx="8853239" cy="1189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sz="3600"/>
              <a:t>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Gill Sans MT"/>
                <a:ea typeface="Gill Sans MT"/>
                <a:cs typeface="Gill Sans MT"/>
              </a:rPr>
              <a:t>Microsoft Elevate: Master Program on </a:t>
            </a:r>
            <a:r>
              <a:t>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Gill Sans MT"/>
                <a:ea typeface="Gill Sans MT"/>
                <a:cs typeface="Gill Sans MT"/>
              </a:rPr>
              <a:t>     		Azure/Copilot/PowerBI</a:t>
            </a:r>
            <a:endParaRPr lang="en-US" sz="3600" b="0" i="0" u="none" strike="noStrike" cap="none" spc="0">
              <a:solidFill>
                <a:schemeClr val="tx1"/>
              </a:solidFill>
              <a:latin typeface="Gill Sans MT"/>
              <a:cs typeface="Gill Sans MT"/>
            </a:endParaRPr>
          </a:p>
        </p:txBody>
      </p:sp>
      <p:sp>
        <p:nvSpPr>
          <p:cNvPr id="1500388024" name="TextBox 10"/>
          <p:cNvSpPr txBox="1"/>
          <p:nvPr/>
        </p:nvSpPr>
        <p:spPr bwMode="auto">
          <a:xfrm>
            <a:off x="3962399" y="1523999"/>
            <a:ext cx="4267199" cy="1077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200" u="sng">
                <a:solidFill>
                  <a:srgbClr val="C00000"/>
                </a:solidFill>
              </a:rPr>
              <a:t>Presentation</a:t>
            </a:r>
            <a:endParaRPr/>
          </a:p>
          <a:p>
            <a:pPr algn="ctr">
              <a:defRPr/>
            </a:pPr>
            <a:r>
              <a:rPr lang="en-US" sz="3200" u="sng">
                <a:solidFill>
                  <a:srgbClr val="C00000"/>
                </a:solidFill>
              </a:rPr>
              <a:t>on</a:t>
            </a:r>
            <a:endParaRPr lang="en-US" sz="3200" u="sng"/>
          </a:p>
        </p:txBody>
      </p:sp>
      <p:sp>
        <p:nvSpPr>
          <p:cNvPr id="943719221" name="TextBox 12"/>
          <p:cNvSpPr txBox="1"/>
          <p:nvPr/>
        </p:nvSpPr>
        <p:spPr bwMode="auto">
          <a:xfrm>
            <a:off x="685800" y="4801267"/>
            <a:ext cx="3285239" cy="1310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>
                <a:latin typeface="Times New Roman"/>
                <a:cs typeface="Times New Roman"/>
              </a:rPr>
              <a:t>Presented by:</a:t>
            </a:r>
            <a:endParaRPr/>
          </a:p>
          <a:p>
            <a:pPr>
              <a:defRPr/>
            </a:pPr>
            <a:r>
              <a:rPr lang="en-US" sz="2000" b="1">
                <a:latin typeface="Times New Roman"/>
                <a:cs typeface="Times New Roman"/>
              </a:rPr>
              <a:t>PARTH VADODARIYA</a:t>
            </a:r>
            <a:br>
              <a:rPr lang="en-US" sz="2000" b="1">
                <a:latin typeface="Times New Roman"/>
                <a:cs typeface="Times New Roman"/>
              </a:rPr>
            </a:br>
            <a:r>
              <a:rPr lang="en-US" sz="2000" b="1">
                <a:latin typeface="Times New Roman"/>
                <a:cs typeface="Times New Roman"/>
              </a:rPr>
              <a:t>230043107015</a:t>
            </a:r>
            <a:endParaRPr/>
          </a:p>
          <a:p>
            <a:pPr>
              <a:defRPr/>
            </a:pPr>
            <a:r>
              <a:rPr lang="en-US" sz="2000" b="1">
                <a:latin typeface="Times New Roman"/>
                <a:cs typeface="Times New Roman"/>
              </a:rPr>
              <a:t>Semester :- 8</a:t>
            </a:r>
            <a:r>
              <a:rPr lang="en-US" sz="2000" b="1" baseline="30000">
                <a:latin typeface="Times New Roman"/>
                <a:cs typeface="Times New Roman"/>
              </a:rPr>
              <a:t>th</a:t>
            </a:r>
            <a:r>
              <a:rPr lang="en-US" sz="2000" b="1">
                <a:latin typeface="Times New Roman"/>
                <a:cs typeface="Times New Roman"/>
              </a:rPr>
              <a:t> </a:t>
            </a:r>
            <a:endParaRPr/>
          </a:p>
        </p:txBody>
      </p:sp>
      <p:sp>
        <p:nvSpPr>
          <p:cNvPr id="1874037116" name="TextBox 13"/>
          <p:cNvSpPr txBox="1"/>
          <p:nvPr/>
        </p:nvSpPr>
        <p:spPr bwMode="auto">
          <a:xfrm>
            <a:off x="7734300" y="4801266"/>
            <a:ext cx="3816335" cy="1310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>
                <a:latin typeface="Times New Roman"/>
                <a:cs typeface="Times New Roman"/>
              </a:rPr>
              <a:t>UNDER THE GUIDANCE OF:</a:t>
            </a:r>
            <a:endParaRPr/>
          </a:p>
          <a:p>
            <a:pPr>
              <a:defRPr/>
            </a:pPr>
            <a:r>
              <a:rPr lang="en-US" sz="2000" b="1">
                <a:latin typeface="Times New Roman"/>
                <a:cs typeface="Times New Roman"/>
              </a:rPr>
              <a:t>HARSH MEHTA</a:t>
            </a:r>
            <a:endParaRPr/>
          </a:p>
          <a:p>
            <a:pPr>
              <a:defRPr/>
            </a:pPr>
            <a:r>
              <a:rPr lang="en-US" sz="2000" b="1">
                <a:latin typeface="Times New Roman"/>
                <a:cs typeface="Times New Roman"/>
              </a:rPr>
              <a:t>Computer Department </a:t>
            </a:r>
            <a:endParaRPr/>
          </a:p>
          <a:p>
            <a:pPr>
              <a:defRPr/>
            </a:pPr>
            <a:r>
              <a:rPr lang="en-US" sz="2000" b="1">
                <a:latin typeface="Times New Roman"/>
                <a:cs typeface="Times New Roman"/>
              </a:rPr>
              <a:t>BHGCET Rajkot</a:t>
            </a:r>
            <a:endParaRPr/>
          </a:p>
        </p:txBody>
      </p:sp>
      <p:sp>
        <p:nvSpPr>
          <p:cNvPr id="190217613" name="Rectangle 1"/>
          <p:cNvSpPr/>
          <p:nvPr/>
        </p:nvSpPr>
        <p:spPr bwMode="auto">
          <a:xfrm>
            <a:off x="3228546" y="3679512"/>
            <a:ext cx="6039568" cy="640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600"/>
              <a:t>Anjali Singh &amp; anjali@fice.in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:wipe/>
      </p:transition>
    </mc:Choice>
    <mc:Fallback xmlns="" xmlns:m="http://schemas.openxmlformats.org/officeDocument/2006/math" xmlns:w="http://schemas.openxmlformats.org/wordprocessingml/2006/main">
      <p:transition spd="med" advClick="1">
        <p:wipe dir="l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132311" name="Rectangle 18"/>
          <p:cNvSpPr/>
          <p:nvPr/>
        </p:nvSpPr>
        <p:spPr bwMode="auto">
          <a:xfrm>
            <a:off x="351311" y="1418358"/>
            <a:ext cx="11489819" cy="401762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14999"/>
              </a:lnSpc>
              <a:defRPr/>
            </a:pPr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Company Address</a:t>
            </a:r>
            <a:endParaRPr sz="2200"/>
          </a:p>
          <a:p>
            <a:pPr marL="283845" indent="-283845">
              <a:lnSpc>
                <a:spcPct val="114999"/>
              </a:lnSpc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FICE Education Pvt. Ltd.</a:t>
            </a:r>
            <a:br>
              <a:rPr sz="2000" b="1" i="0" u="none">
                <a:latin typeface="Times New Roman"/>
                <a:ea typeface="Times New Roman"/>
                <a:cs typeface="Times New Roman"/>
              </a:rPr>
            </a:b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A-11-1105, Unitech Arcadia,</a:t>
            </a:r>
            <a:br>
              <a:rPr sz="2000" b="0" i="0" u="none">
                <a:latin typeface="Times New Roman"/>
                <a:ea typeface="Times New Roman"/>
                <a:cs typeface="Times New Roman"/>
              </a:rPr>
            </a:b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South City-2, Gurugram – 122018, India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Company Brief Introduction</a:t>
            </a:r>
            <a:endParaRPr sz="2200"/>
          </a:p>
          <a:p>
            <a:pPr marL="283845" indent="-283845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FICE Education Pvt. Ltd. is an education and training organization that provides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industry-oriented skill development programs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collaboration with reputed technology partners such as Microsoft.</a:t>
            </a:r>
            <a:endParaRPr sz="2000"/>
          </a:p>
          <a:p>
            <a:pPr marL="283845" indent="-283845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company focuses on delivering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online and virtual training programs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the domains of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Analytics, Artificial Intelligence, Cloud Computing, and Business Intelligence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000"/>
          </a:p>
          <a:p>
            <a:pPr>
              <a:lnSpc>
                <a:spcPct val="114999"/>
              </a:lnSpc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FICE Education plays a vital role in bridging the gap between academic learning and industry requirements by offering structured internships, certification-oriented learning, and expert-led sessions.</a:t>
            </a:r>
            <a:endParaRPr sz="1800">
              <a:latin typeface="Bookman Old Style"/>
            </a:endParaRPr>
          </a:p>
        </p:txBody>
      </p:sp>
      <p:sp>
        <p:nvSpPr>
          <p:cNvPr id="968185176" name="Rectangle 19"/>
          <p:cNvSpPr/>
          <p:nvPr/>
        </p:nvSpPr>
        <p:spPr bwMode="auto">
          <a:xfrm>
            <a:off x="228600" y="152400"/>
            <a:ext cx="8229600" cy="1103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2600" b="1">
                <a:solidFill>
                  <a:schemeClr val="bg1"/>
                </a:solidFill>
                <a:latin typeface="Bookman Old Style"/>
              </a:rPr>
              <a:t> </a:t>
            </a:r>
            <a:r>
              <a:rPr sz="2600" i="0" u="none">
                <a:solidFill>
                  <a:schemeClr val="bg1"/>
                </a:solidFill>
                <a:latin typeface="URW Bookman"/>
                <a:ea typeface="URW Bookman"/>
                <a:cs typeface="URW Bookman"/>
              </a:rPr>
              <a:t>FICE Education Pvt. Ltd.</a:t>
            </a:r>
            <a:endParaRPr lang="en-US" sz="2400">
              <a:solidFill>
                <a:schemeClr val="bg1"/>
              </a:solidFill>
              <a:latin typeface="Bookman Old Sty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081097" name="TextBox 15"/>
          <p:cNvSpPr txBox="1"/>
          <p:nvPr/>
        </p:nvSpPr>
        <p:spPr bwMode="auto">
          <a:xfrm>
            <a:off x="838200" y="1255410"/>
            <a:ext cx="5593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OUTLINE 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256665951" name="Rectangle 19"/>
          <p:cNvSpPr/>
          <p:nvPr/>
        </p:nvSpPr>
        <p:spPr bwMode="auto">
          <a:xfrm>
            <a:off x="228600" y="152400"/>
            <a:ext cx="8229600" cy="1103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2400" b="1">
                <a:solidFill>
                  <a:schemeClr val="bg1"/>
                </a:solidFill>
                <a:latin typeface="Bookman Old Style"/>
              </a:rPr>
              <a:t> </a:t>
            </a:r>
            <a:r>
              <a:rPr lang="en-US" sz="2400">
                <a:solidFill>
                  <a:schemeClr val="bg1"/>
                </a:solidFill>
                <a:latin typeface="Bookman Old Style"/>
              </a:rPr>
              <a:t>Company Layout</a:t>
            </a:r>
            <a:r>
              <a:rPr lang="en-US" sz="2400" b="1">
                <a:solidFill>
                  <a:schemeClr val="bg1"/>
                </a:solidFill>
                <a:latin typeface="Bookman Old Style"/>
              </a:rPr>
              <a:t> </a:t>
            </a:r>
            <a:endParaRPr lang="en-US" sz="2400">
              <a:solidFill>
                <a:schemeClr val="bg1"/>
              </a:solidFill>
              <a:latin typeface="Bookman Old Style"/>
            </a:endParaRPr>
          </a:p>
        </p:txBody>
      </p:sp>
      <p:sp>
        <p:nvSpPr>
          <p:cNvPr id="2129206325" name="Content Placeholder 2"/>
          <p:cNvSpPr>
            <a:spLocks noGrp="1"/>
          </p:cNvSpPr>
          <p:nvPr>
            <p:ph idx="1"/>
          </p:nvPr>
        </p:nvSpPr>
        <p:spPr bwMode="auto">
          <a:xfrm>
            <a:off x="228599" y="1517018"/>
            <a:ext cx="11870099" cy="3125497"/>
          </a:xfrm>
        </p:spPr>
        <p:txBody>
          <a:bodyPr/>
          <a:lstStyle/>
          <a:p>
            <a:pPr>
              <a:buClr>
                <a:schemeClr val="accent2"/>
              </a:buClr>
              <a:buSzPct val="9200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 the internship was conducted in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virtual mode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the company follows a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digital operational structure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100"/>
          </a:p>
          <a:p>
            <a:pPr>
              <a:buClr>
                <a:schemeClr val="accent2"/>
              </a:buClr>
              <a:buSzPct val="92000"/>
              <a:buFont typeface="Arial"/>
              <a:buChar char="•"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Company Layout Includes:</a:t>
            </a:r>
            <a:endParaRPr sz="2100"/>
          </a:p>
          <a:p>
            <a:pPr lvl="1">
              <a:buClr>
                <a:schemeClr val="accent2"/>
              </a:buClr>
              <a:buSzPct val="92000"/>
              <a:buFont typeface="Arial"/>
              <a:buChar char="•"/>
              <a:defRPr/>
            </a:pPr>
            <a:r>
              <a:rPr sz="19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Online training infrastructure</a:t>
            </a:r>
            <a:endParaRPr sz="2100"/>
          </a:p>
          <a:p>
            <a:pPr lvl="1">
              <a:buClr>
                <a:schemeClr val="accent2"/>
              </a:buClr>
              <a:buSzPct val="92000"/>
              <a:buFont typeface="Arial"/>
              <a:buChar char="•"/>
              <a:defRPr/>
            </a:pPr>
            <a:r>
              <a:rPr sz="19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Learning Management Systems (LMS)</a:t>
            </a:r>
            <a:endParaRPr sz="2100"/>
          </a:p>
          <a:p>
            <a:pPr lvl="1">
              <a:buClr>
                <a:schemeClr val="accent2"/>
              </a:buClr>
              <a:buSzPct val="92000"/>
              <a:buFont typeface="Arial"/>
              <a:buChar char="•"/>
              <a:defRPr/>
            </a:pPr>
            <a:r>
              <a:rPr sz="19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Virtual classrooms (Zoom)</a:t>
            </a:r>
            <a:endParaRPr sz="2100"/>
          </a:p>
          <a:p>
            <a:pPr lvl="1">
              <a:buClr>
                <a:schemeClr val="accent2"/>
              </a:buClr>
              <a:buSzPct val="92000"/>
              <a:buFont typeface="Arial"/>
              <a:buChar char="•"/>
              <a:defRPr/>
            </a:pPr>
            <a:r>
              <a:rPr sz="19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Telegram &amp; communication platforms</a:t>
            </a:r>
            <a:endParaRPr sz="2100"/>
          </a:p>
          <a:p>
            <a:pPr lvl="1">
              <a:buClr>
                <a:schemeClr val="accent2"/>
              </a:buClr>
              <a:buSzPct val="92000"/>
              <a:buFont typeface="Arial"/>
              <a:buChar char="•"/>
              <a:defRPr/>
            </a:pPr>
            <a:r>
              <a:rPr sz="19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Digital assessment and certification systems</a:t>
            </a:r>
            <a:endParaRPr sz="2100"/>
          </a:p>
          <a:p>
            <a:pPr lvl="1">
              <a:buClr>
                <a:schemeClr val="accent2"/>
              </a:buClr>
              <a:buSzPct val="92000"/>
              <a:buFont typeface="Arial"/>
              <a:buChar char="•"/>
              <a:defRPr/>
            </a:pPr>
            <a:r>
              <a:rPr sz="19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virtual layout enables students across different locations to participate effectively.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147727" name="Rectangle 19"/>
          <p:cNvSpPr/>
          <p:nvPr/>
        </p:nvSpPr>
        <p:spPr bwMode="auto">
          <a:xfrm>
            <a:off x="228600" y="152400"/>
            <a:ext cx="8229600" cy="1103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2400" b="1">
                <a:solidFill>
                  <a:schemeClr val="bg1"/>
                </a:solidFill>
                <a:latin typeface="Bookman Old Style"/>
              </a:rPr>
              <a:t> </a:t>
            </a:r>
            <a:r>
              <a:rPr lang="en-US" sz="2400">
                <a:solidFill>
                  <a:schemeClr val="bg1"/>
                </a:solidFill>
                <a:latin typeface="Times New Roman"/>
              </a:rPr>
              <a:t>Work  Plan</a:t>
            </a:r>
          </a:p>
        </p:txBody>
      </p:sp>
      <p:sp>
        <p:nvSpPr>
          <p:cNvPr id="1295025719" name="Rectangle 5"/>
          <p:cNvSpPr/>
          <p:nvPr/>
        </p:nvSpPr>
        <p:spPr bwMode="auto">
          <a:xfrm>
            <a:off x="532657" y="1849298"/>
            <a:ext cx="11128439" cy="4054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Week-wise Internship Work Plan</a:t>
            </a:r>
            <a:endParaRPr sz="2000"/>
          </a:p>
          <a:p>
            <a:pPr marL="363058" lvl="0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1: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Orientation &amp; Introduction to AI and Data Analytics</a:t>
            </a:r>
            <a:endParaRPr sz="2000"/>
          </a:p>
          <a:p>
            <a:pPr marL="363058" lvl="0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2: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Data Handling, Data Cleaning, Data Visualization &amp; EDA</a:t>
            </a:r>
            <a:endParaRPr sz="2000"/>
          </a:p>
          <a:p>
            <a:pPr marL="363058" lvl="0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3: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Power BI &amp; Data Modeling, DAX</a:t>
            </a:r>
            <a:endParaRPr sz="2000"/>
          </a:p>
          <a:p>
            <a:pPr marL="363058" lvl="0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4: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Deep Learning &amp; Artificial Neural Networks (ANN)</a:t>
            </a:r>
            <a:endParaRPr sz="2000"/>
          </a:p>
          <a:p>
            <a:pPr marL="363058" lvl="0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5: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Advanced DAX &amp; Power BI Dashboard Development</a:t>
            </a:r>
            <a:endParaRPr sz="2000"/>
          </a:p>
          <a:p>
            <a:pPr marL="363058" lvl="0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6: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Machine Learning &amp; Supervised Learning</a:t>
            </a:r>
            <a:endParaRPr sz="2000"/>
          </a:p>
          <a:p>
            <a:pPr marL="363058" lvl="0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7: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Unsupervised Learning &amp; Reinforcement Learning</a:t>
            </a:r>
            <a:endParaRPr sz="2000"/>
          </a:p>
          <a:p>
            <a:pPr marL="363058" lvl="0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8: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Deep Learning &amp; ANN (Advanced Concepts)</a:t>
            </a:r>
            <a:endParaRPr sz="2000"/>
          </a:p>
          <a:p>
            <a:pPr marL="363058" lvl="0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9: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CNN, TensorFlow &amp; Keras</a:t>
            </a:r>
            <a:endParaRPr sz="2000"/>
          </a:p>
          <a:p>
            <a:pPr marL="363058" lvl="0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10: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Generative AI &amp; Microsoft Copilot</a:t>
            </a:r>
            <a:endParaRPr sz="2000"/>
          </a:p>
          <a:p>
            <a:pPr marL="363058" lvl="0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11: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Cloud Computing Fundamentals &amp; Azure Introduction</a:t>
            </a:r>
            <a:endParaRPr sz="2000"/>
          </a:p>
          <a:p>
            <a:pPr marL="363058" lvl="0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Week 12: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Azure Experiments &amp; Final AMA Session</a:t>
            </a:r>
            <a:endParaRPr lang="en-US">
              <a:latin typeface="Bookman Old Style"/>
            </a:endParaRPr>
          </a:p>
        </p:txBody>
      </p:sp>
      <p:sp>
        <p:nvSpPr>
          <p:cNvPr id="241352778" name="Rectangle 5"/>
          <p:cNvSpPr/>
          <p:nvPr/>
        </p:nvSpPr>
        <p:spPr bwMode="auto">
          <a:xfrm>
            <a:off x="533398" y="1479430"/>
            <a:ext cx="11126279" cy="3661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b="1"/>
              <a:t>12 week work plan</a:t>
            </a:r>
            <a:endParaRPr lang="en-US">
              <a:latin typeface="Bookman Old Sty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874472" name="Rectangle 19"/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2400" b="1">
                <a:solidFill>
                  <a:schemeClr val="bg1"/>
                </a:solidFill>
                <a:latin typeface="Bookman Old Style"/>
              </a:rPr>
              <a:t> </a:t>
            </a:r>
            <a:r>
              <a:rPr lang="en-US" sz="2400">
                <a:solidFill>
                  <a:schemeClr val="bg1"/>
                </a:solidFill>
                <a:latin typeface="Bookman Old Style"/>
              </a:rPr>
              <a:t>Work  Plan</a:t>
            </a:r>
          </a:p>
        </p:txBody>
      </p:sp>
      <p:sp>
        <p:nvSpPr>
          <p:cNvPr id="2086850176" name="Rectangle 5"/>
          <p:cNvSpPr/>
          <p:nvPr/>
        </p:nvSpPr>
        <p:spPr bwMode="auto">
          <a:xfrm>
            <a:off x="533399" y="1479431"/>
            <a:ext cx="11125199" cy="369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b="1"/>
              <a:t>12 week work plan (Gantt Chart)</a:t>
            </a:r>
            <a:endParaRPr lang="en-US">
              <a:latin typeface="Bookman Old Style"/>
            </a:endParaRPr>
          </a:p>
        </p:txBody>
      </p:sp>
      <p:pic>
        <p:nvPicPr>
          <p:cNvPr id="450414071" name="Picture 45041407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9549" y="1981199"/>
            <a:ext cx="11772900" cy="36766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CCAA1D2-0B87-0F22-4BBB-2F66C576FEF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874472" name="Rectangle 19">
            <a:extLst>
              <a:ext uri="{FF2B5EF4-FFF2-40B4-BE49-F238E27FC236}">
                <a16:creationId xmlns:a16="http://schemas.microsoft.com/office/drawing/2014/main" id="{67C02F7D-602F-470D-9351-C58EE7AD9B9B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  <a:latin typeface="Bookman Old Style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Bookman Old Style"/>
              </a:rPr>
              <a:t>Work  Plan Time Table</a:t>
            </a:r>
          </a:p>
        </p:txBody>
      </p:sp>
      <p:sp>
        <p:nvSpPr>
          <p:cNvPr id="2086850176" name="Rectangle 5">
            <a:extLst>
              <a:ext uri="{FF2B5EF4-FFF2-40B4-BE49-F238E27FC236}">
                <a16:creationId xmlns:a16="http://schemas.microsoft.com/office/drawing/2014/main" id="{C5A6A539-8947-2E26-F422-7DE598423D76}"/>
              </a:ext>
            </a:extLst>
          </p:cNvPr>
          <p:cNvSpPr/>
          <p:nvPr/>
        </p:nvSpPr>
        <p:spPr bwMode="auto">
          <a:xfrm>
            <a:off x="533399" y="1479431"/>
            <a:ext cx="11125199" cy="369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b="1" dirty="0"/>
              <a:t>12 week work plan (Time Table)</a:t>
            </a:r>
            <a:endParaRPr lang="en-US" dirty="0">
              <a:latin typeface="Bookman Old Style"/>
            </a:endParaRPr>
          </a:p>
        </p:txBody>
      </p:sp>
      <p:pic>
        <p:nvPicPr>
          <p:cNvPr id="2" name="Picture 1" descr="A table with a number of days and months&#10;&#10;AI-generated content may be incorrect.">
            <a:extLst>
              <a:ext uri="{FF2B5EF4-FFF2-40B4-BE49-F238E27FC236}">
                <a16:creationId xmlns:a16="http://schemas.microsoft.com/office/drawing/2014/main" id="{FFAC9761-2304-D035-F296-90577321D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381" y="1827552"/>
            <a:ext cx="8472617" cy="477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98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930197" name="Rectangle 18"/>
          <p:cNvSpPr/>
          <p:nvPr/>
        </p:nvSpPr>
        <p:spPr bwMode="auto">
          <a:xfrm>
            <a:off x="605480" y="1390649"/>
            <a:ext cx="11132759" cy="42629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14999"/>
              </a:lnSpc>
              <a:defRPr/>
            </a:pPr>
            <a:r>
              <a:rPr lang="en-US" sz="3600" dirty="0">
                <a:latin typeface="Times New Roman"/>
              </a:rPr>
              <a:t>What</a:t>
            </a:r>
            <a:r>
              <a:rPr lang="en-US" sz="3600" dirty="0">
                <a:latin typeface="Bookman Old Style"/>
              </a:rPr>
              <a:t> is work execution?</a:t>
            </a:r>
            <a:endParaRPr lang="en-US" dirty="0"/>
          </a:p>
          <a:p>
            <a:pPr lvl="0">
              <a:lnSpc>
                <a:spcPct val="114999"/>
              </a:lnSpc>
              <a:defRPr/>
            </a:pPr>
            <a:r>
              <a:rPr sz="22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is Work Execution?</a:t>
            </a:r>
            <a:endParaRPr sz="2000" dirty="0"/>
          </a:p>
          <a:p>
            <a:pPr marL="705485" lvl="1" indent="-305435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 execution refers to the </a:t>
            </a:r>
            <a:r>
              <a:rPr sz="20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practical implementation of planned activities</a:t>
            </a: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during the internship period.</a:t>
            </a:r>
            <a:endParaRPr sz="2000" dirty="0"/>
          </a:p>
          <a:p>
            <a:pPr marL="705485" lvl="1" indent="-305435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this internship, work execution included:</a:t>
            </a:r>
            <a:endParaRPr sz="2000" dirty="0"/>
          </a:p>
          <a:p>
            <a:pPr marL="705485" lvl="1" indent="-305435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Attending live online sessions</a:t>
            </a:r>
            <a:endParaRPr sz="2000" dirty="0"/>
          </a:p>
          <a:p>
            <a:pPr marL="705485" lvl="1" indent="-305435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Understanding theoretical concepts</a:t>
            </a:r>
            <a:endParaRPr sz="2000" dirty="0"/>
          </a:p>
          <a:p>
            <a:pPr marL="705485" lvl="1" indent="-305435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Observing demonstrations of tools and technologies</a:t>
            </a:r>
            <a:endParaRPr sz="2000" dirty="0"/>
          </a:p>
          <a:p>
            <a:pPr marL="705485" lvl="1" indent="-305435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Performing guided practical exercises</a:t>
            </a:r>
            <a:endParaRPr sz="2000" dirty="0"/>
          </a:p>
          <a:p>
            <a:pPr marL="705485" lvl="1" indent="-305435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Attempting assessments after each module</a:t>
            </a:r>
            <a:endParaRPr sz="2000" dirty="0"/>
          </a:p>
          <a:p>
            <a:pPr marL="705485" lvl="1" indent="-305435" algn="just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execution was carried out in accordance with the internship schedule and guidelines.</a:t>
            </a:r>
            <a:endParaRPr sz="2000" dirty="0"/>
          </a:p>
        </p:txBody>
      </p:sp>
      <p:sp>
        <p:nvSpPr>
          <p:cNvPr id="2030854117" name="Rectangle 19"/>
          <p:cNvSpPr/>
          <p:nvPr/>
        </p:nvSpPr>
        <p:spPr bwMode="auto">
          <a:xfrm>
            <a:off x="228600" y="152400"/>
            <a:ext cx="8229600" cy="1103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2400">
                <a:solidFill>
                  <a:schemeClr val="bg1"/>
                </a:solidFill>
                <a:latin typeface="Times New Roman"/>
              </a:rPr>
              <a:t>Work Execution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91805" name="TextBox 15"/>
          <p:cNvSpPr txBox="1"/>
          <p:nvPr/>
        </p:nvSpPr>
        <p:spPr bwMode="auto">
          <a:xfrm>
            <a:off x="838200" y="1255410"/>
            <a:ext cx="5593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OUTLINE 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2004302518" name="Rectangle 18"/>
          <p:cNvSpPr/>
          <p:nvPr/>
        </p:nvSpPr>
        <p:spPr bwMode="auto">
          <a:xfrm>
            <a:off x="533039" y="1517019"/>
            <a:ext cx="11133119" cy="4227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During the internship, the following skills were developed:</a:t>
            </a:r>
            <a:endParaRPr sz="1800"/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Technical Skills</a:t>
            </a:r>
            <a:endParaRPr sz="1800"/>
          </a:p>
          <a:p>
            <a:pPr marL="741079" lvl="1" indent="-283879">
              <a:lnSpc>
                <a:spcPct val="114999"/>
              </a:lnSpc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Analytics fundamentals</a:t>
            </a:r>
            <a:endParaRPr sz="1800"/>
          </a:p>
          <a:p>
            <a:pPr marL="741079" lvl="1" indent="-283879">
              <a:lnSpc>
                <a:spcPct val="114999"/>
              </a:lnSpc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Business Intelligence concepts</a:t>
            </a:r>
            <a:endParaRPr sz="1800"/>
          </a:p>
          <a:p>
            <a:pPr marL="741079" lvl="1" indent="-283879">
              <a:lnSpc>
                <a:spcPct val="114999"/>
              </a:lnSpc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Power BI basics and dashboards</a:t>
            </a:r>
            <a:endParaRPr sz="1800"/>
          </a:p>
          <a:p>
            <a:pPr marL="741079" lvl="1" indent="-283879">
              <a:lnSpc>
                <a:spcPct val="114999"/>
              </a:lnSpc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Artificial Intelligence &amp; Machine Learning concepts</a:t>
            </a:r>
            <a:endParaRPr sz="1800"/>
          </a:p>
          <a:p>
            <a:pPr marL="741079" lvl="1" indent="-283879">
              <a:lnSpc>
                <a:spcPct val="114999"/>
              </a:lnSpc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Cloud Computing fundamentals (Microsoft Azure)</a:t>
            </a:r>
            <a:endParaRPr sz="1800"/>
          </a:p>
          <a:p>
            <a:pPr marL="283879" indent="-283879">
              <a:lnSpc>
                <a:spcPct val="114999"/>
              </a:lnSpc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Professional Skills</a:t>
            </a:r>
            <a:endParaRPr sz="1800"/>
          </a:p>
          <a:p>
            <a:pPr marL="741079" lvl="1" indent="-283879">
              <a:lnSpc>
                <a:spcPct val="114999"/>
              </a:lnSpc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Analytical thinking</a:t>
            </a:r>
            <a:endParaRPr sz="1800"/>
          </a:p>
          <a:p>
            <a:pPr marL="741079" lvl="1" indent="-283879">
              <a:lnSpc>
                <a:spcPct val="114999"/>
              </a:lnSpc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Problem-solving ability</a:t>
            </a:r>
            <a:endParaRPr sz="1800"/>
          </a:p>
          <a:p>
            <a:pPr marL="741079" lvl="1" indent="-283879">
              <a:lnSpc>
                <a:spcPct val="114999"/>
              </a:lnSpc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 management</a:t>
            </a:r>
            <a:endParaRPr sz="1800"/>
          </a:p>
          <a:p>
            <a:pPr marL="741079" lvl="1" indent="-283879">
              <a:lnSpc>
                <a:spcPct val="114999"/>
              </a:lnSpc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Technical communication</a:t>
            </a:r>
            <a:endParaRPr sz="1800"/>
          </a:p>
          <a:p>
            <a:pPr marL="741079" lvl="1" indent="-283879">
              <a:lnSpc>
                <a:spcPct val="114999"/>
              </a:lnSpc>
              <a:buAutoNum type="arabicPeriod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Industry readiness</a:t>
            </a:r>
            <a:endParaRPr lang="en-US">
              <a:latin typeface="Bookman Old Style"/>
            </a:endParaRPr>
          </a:p>
        </p:txBody>
      </p:sp>
      <p:sp>
        <p:nvSpPr>
          <p:cNvPr id="120711719" name="Rectangle 19"/>
          <p:cNvSpPr/>
          <p:nvPr/>
        </p:nvSpPr>
        <p:spPr bwMode="auto">
          <a:xfrm>
            <a:off x="228600" y="152400"/>
            <a:ext cx="8229600" cy="1103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2400" b="1">
                <a:solidFill>
                  <a:schemeClr val="bg1"/>
                </a:solidFill>
                <a:latin typeface="Bookman Old Style"/>
              </a:rPr>
              <a:t> </a:t>
            </a:r>
            <a:r>
              <a:rPr lang="en-US" sz="2400">
                <a:solidFill>
                  <a:schemeClr val="bg1"/>
                </a:solidFill>
                <a:latin typeface="Bookman Old Style"/>
              </a:rPr>
              <a:t>L</a:t>
            </a:r>
            <a:r>
              <a:rPr lang="en-US" sz="2400">
                <a:solidFill>
                  <a:schemeClr val="bg1"/>
                </a:solidFill>
                <a:latin typeface="Times New Roman"/>
              </a:rPr>
              <a:t>ist of Skill imparted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821097" name="TextBox 15"/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359866439" name="Rectangle 19"/>
          <p:cNvSpPr/>
          <p:nvPr/>
        </p:nvSpPr>
        <p:spPr bwMode="auto">
          <a:xfrm>
            <a:off x="228600" y="152400"/>
            <a:ext cx="8229600" cy="1103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sz="240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STRENGTHS DEVELOPED DURING TRAINING</a:t>
            </a:r>
            <a:endParaRPr lang="en-US" sz="2400">
              <a:solidFill>
                <a:schemeClr val="bg1"/>
              </a:solidFill>
              <a:latin typeface="Bookman Old Style"/>
            </a:endParaRPr>
          </a:p>
        </p:txBody>
      </p:sp>
      <p:sp>
        <p:nvSpPr>
          <p:cNvPr id="2037585272" name=" 2037585271"/>
          <p:cNvSpPr/>
          <p:nvPr/>
        </p:nvSpPr>
        <p:spPr bwMode="auto">
          <a:xfrm>
            <a:off x="838199" y="1657350"/>
            <a:ext cx="10654139" cy="16157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Improved understanding of real-world technologies</a:t>
            </a:r>
            <a:endParaRPr sz="2600"/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Ability to analyze and interpret data</a:t>
            </a:r>
            <a:endParaRPr sz="2600"/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Exposure to industry-standard tools</a:t>
            </a:r>
            <a:endParaRPr sz="2600"/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Enhanced confidence in technical subjects</a:t>
            </a:r>
            <a:endParaRPr sz="2600"/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Better understanding of career opportunities in Data, AI &amp; Cloud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82625" name="Rectangle 19"/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sz="240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POWER BI – FOR BUSINESS APPLICATIONS</a:t>
            </a:r>
            <a:endParaRPr lang="en-US" sz="2400">
              <a:solidFill>
                <a:schemeClr val="bg1"/>
              </a:solidFill>
              <a:latin typeface="Bookman Old Style"/>
            </a:endParaRPr>
          </a:p>
        </p:txBody>
      </p:sp>
      <p:sp>
        <p:nvSpPr>
          <p:cNvPr id="2022644813" name=" 2022644812"/>
          <p:cNvSpPr/>
          <p:nvPr/>
        </p:nvSpPr>
        <p:spPr bwMode="auto">
          <a:xfrm>
            <a:off x="429461" y="1459428"/>
            <a:ext cx="11041829" cy="3789785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4999"/>
              </a:lnSpc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module focused on understanding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Business Intelligence (BI)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concepts using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Microsoft Power BI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The training covered the complete process of transforming raw data into meaningful insights for business decision-making.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learning areas included:</a:t>
            </a:r>
            <a:endParaRPr/>
          </a:p>
          <a:p>
            <a:pPr marL="617843" lvl="1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9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 to Business Intelligence and data analytics</a:t>
            </a:r>
            <a:endParaRPr sz="1900"/>
          </a:p>
          <a:p>
            <a:pPr marL="617843" lvl="1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9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Connecting Power BI to multiple data sources</a:t>
            </a:r>
            <a:endParaRPr sz="1900"/>
          </a:p>
          <a:p>
            <a:pPr marL="617843" lvl="1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9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cleaning and transformation using Power Query</a:t>
            </a:r>
            <a:endParaRPr sz="1900"/>
          </a:p>
          <a:p>
            <a:pPr marL="617843" lvl="1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9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modeling and relationship creation</a:t>
            </a:r>
            <a:endParaRPr sz="1900"/>
          </a:p>
          <a:p>
            <a:pPr marL="617843" lvl="1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9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Creating interactive reports and dashboards</a:t>
            </a:r>
            <a:endParaRPr sz="1900"/>
          </a:p>
          <a:p>
            <a:pPr marL="617843" lvl="1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9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module enhanced the understanding of how organizations use data visualization to analyze business performance.</a:t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788964" name="TextBox 15"/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1976521421" name="Rectangle 19"/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sz="240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MICROSOFT AZURE</a:t>
            </a:r>
            <a:endParaRPr lang="en-US" sz="2400">
              <a:solidFill>
                <a:schemeClr val="bg1"/>
              </a:solidFill>
              <a:latin typeface="Bookman Old Style"/>
            </a:endParaRPr>
          </a:p>
        </p:txBody>
      </p:sp>
      <p:sp>
        <p:nvSpPr>
          <p:cNvPr id="1111492892" name=" 1111492891"/>
          <p:cNvSpPr/>
          <p:nvPr/>
        </p:nvSpPr>
        <p:spPr bwMode="auto">
          <a:xfrm>
            <a:off x="500580" y="1508908"/>
            <a:ext cx="11032499" cy="3561947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4999"/>
              </a:lnSpc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module introduced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cloud computing concepts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using the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Microsoft Azure platform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b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 provided a foundational understanding of cloud services and their role in modern IT infrastructure.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Topics covered:</a:t>
            </a:r>
            <a:endParaRPr sz="2600" b="1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Basics of cloud computing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Azure global infrastructure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Cloud service models (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IaaS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PaaS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SaaS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Azure subscriptions and resource groups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 to virtual machines and storage</a:t>
            </a:r>
          </a:p>
          <a:p>
            <a:pPr>
              <a:lnSpc>
                <a:spcPct val="114999"/>
              </a:lnSpc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module helped in understanding how cloud platforms support scalability, security, and cost-effective computing.</a:t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563090" name="TextBox 15"/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1422037649" name="Rectangle 19"/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sz="240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CLOUD ADMINISTRATION &amp; ENGINEERING</a:t>
            </a:r>
            <a:endParaRPr lang="en-US" sz="2400">
              <a:solidFill>
                <a:schemeClr val="bg1"/>
              </a:solidFill>
              <a:latin typeface="Bookman Old Style"/>
            </a:endParaRPr>
          </a:p>
        </p:txBody>
      </p:sp>
      <p:sp>
        <p:nvSpPr>
          <p:cNvPr id="1378863911" name=" 1378863910"/>
          <p:cNvSpPr/>
          <p:nvPr/>
        </p:nvSpPr>
        <p:spPr bwMode="auto">
          <a:xfrm>
            <a:off x="399639" y="1419844"/>
            <a:ext cx="11036459" cy="3667103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4999"/>
              </a:lnSpc>
              <a:defRPr/>
            </a:pP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module focused on the </a:t>
            </a:r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administration and management of cloud resources</a:t>
            </a: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b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It emphasized the operational aspects of maintaining cloud environments.</a:t>
            </a:r>
            <a:endParaRPr sz="2600"/>
          </a:p>
          <a:p>
            <a:pPr>
              <a:lnSpc>
                <a:spcPct val="114999"/>
              </a:lnSpc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concepts included: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Cloud resource management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Virtual networking and access control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Identity and access management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Monitoring and performance management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Backup and disaster recovery concepts</a:t>
            </a:r>
            <a:endParaRPr sz="2600"/>
          </a:p>
          <a:p>
            <a:pPr>
              <a:lnSpc>
                <a:spcPct val="114999"/>
              </a:lnSpc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module provided insight into how cloud administrators ensure reliability, security, and efficiency of cloud systems.</a:t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709758" name="TextBox 15"/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254445327" name="Rectangle 19"/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sz="240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ARTIFICIAL INTELLIGENCE &amp; MACHINE LEARNING</a:t>
            </a:r>
            <a:endParaRPr lang="en-US" sz="2400">
              <a:solidFill>
                <a:schemeClr val="bg1"/>
              </a:solidFill>
              <a:latin typeface="Bookman Old Style"/>
            </a:endParaRPr>
          </a:p>
        </p:txBody>
      </p:sp>
      <p:sp>
        <p:nvSpPr>
          <p:cNvPr id="1997507479" name=" 1997507478"/>
          <p:cNvSpPr/>
          <p:nvPr/>
        </p:nvSpPr>
        <p:spPr bwMode="auto">
          <a:xfrm>
            <a:off x="409535" y="1508908"/>
            <a:ext cx="11041499" cy="3596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4999"/>
              </a:lnSpc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module introduced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Artificial Intelligence (AI)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Machine Learning (ML)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fundamentals and their real-world applications.</a:t>
            </a:r>
            <a:endParaRPr sz="2600"/>
          </a:p>
          <a:p>
            <a:pPr>
              <a:lnSpc>
                <a:spcPct val="114999"/>
              </a:lnSpc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Topics covered: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 to Artificial Intelligence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Machine Learning concepts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Supervised and Unsupervised learning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Deep Learning and Artificial Neural Networks (ANN)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Applications of AI in healthcare, finance, and education</a:t>
            </a:r>
            <a:endParaRPr sz="2600"/>
          </a:p>
          <a:p>
            <a:pPr>
              <a:lnSpc>
                <a:spcPct val="114999"/>
              </a:lnSpc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module helped in understanding how intelligent systems learn from data and make predictions or decisions.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/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/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sz="240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MICROSOFT COPILOT &amp; GENERATIVE AI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419569020" name=" 1419569019"/>
          <p:cNvSpPr/>
          <p:nvPr/>
        </p:nvSpPr>
        <p:spPr bwMode="auto">
          <a:xfrm>
            <a:off x="340262" y="1508908"/>
            <a:ext cx="11045099" cy="3596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4999"/>
              </a:lnSpc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module focused on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Generative AI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the use of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Microsoft Copilot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as an AI-powered productivity assistant.</a:t>
            </a:r>
            <a:endParaRPr sz="2600"/>
          </a:p>
          <a:p>
            <a:pPr>
              <a:lnSpc>
                <a:spcPct val="114999"/>
              </a:lnSpc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learning areas included: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 to Generative AI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Role of AI in automation and productivity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Microsoft Copilot features and applications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Ethical considerations in AI usage</a:t>
            </a:r>
            <a:endParaRPr sz="2600"/>
          </a:p>
          <a:p>
            <a:pPr marL="705958" lvl="1" indent="-305908">
              <a:lnSpc>
                <a:spcPct val="114999"/>
              </a:lnSpc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AI-assisted content creation and data summarization</a:t>
            </a:r>
            <a:endParaRPr sz="2600"/>
          </a:p>
          <a:p>
            <a:pPr>
              <a:lnSpc>
                <a:spcPct val="114999"/>
              </a:lnSpc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module demonstrated how AI tools can enhance efficiency and decision-making in professional environments.</a:t>
            </a:r>
            <a:endParaRPr sz="2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8C00834-D2B1-313E-3AF3-E9327269734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63F522CF-9616-2AEA-0BF2-CC6AFBD18BA2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3A72D840-3746-9E62-DB5A-3D1C6D5C6E4D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endParaRPr lang="en-US" sz="2400" b="1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defRPr/>
            </a:pPr>
            <a:r>
              <a:rPr lang="en-US" sz="2400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Week 1 — Introduction to AI &amp; Data Analysis</a:t>
            </a:r>
            <a:endParaRPr lang="en-US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E93A43-F518-D88A-8A4D-08297009E3CC}"/>
              </a:ext>
            </a:extLst>
          </p:cNvPr>
          <p:cNvSpPr txBox="1"/>
          <p:nvPr/>
        </p:nvSpPr>
        <p:spPr>
          <a:xfrm>
            <a:off x="372742" y="1411844"/>
            <a:ext cx="6207167" cy="52937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  <a:r>
              <a:rPr lang="en-US" sz="2000" b="1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Work Done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rtl="0">
              <a:buFont typeface="Arial,Sans-Serif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Learned fundamentals of Artificial Intelligence.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Introduction to Data Analytics lifecycle.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Understanding structured and unstructured data.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Overview of Business Intelligence tools.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Installation and setup of Power BI Desktop.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Basic dataset loading and visualization creation.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rtl="0"/>
            <a:r>
              <a:rPr lang="en-US" sz="2000" b="1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Concepts Learned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AI vs Machine Learning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Role of data in decision-making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742950" lvl="1" indent="-285750" rtl="0">
              <a:buFont typeface="Arial,Sans-Serif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Data-driven organizations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rtl="0"/>
            <a:r>
              <a:rPr lang="en-US" sz="2000" b="1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Types of analytics: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200150" lvl="1" indent="-285750" rtl="0">
              <a:buFont typeface="Wingdings,Sans-Serif"/>
              <a:buChar char="§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Descriptive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200150" lvl="1" indent="-285750" rtl="0">
              <a:buFont typeface="Wingdings,Sans-Serif"/>
              <a:buChar char="§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Diagnostic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200150" lvl="1" indent="-285750" rtl="0">
              <a:buFont typeface="Wingdings,Sans-Serif"/>
              <a:buChar char="§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Predictive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1200150" lvl="2" indent="-285750" rtl="0">
              <a:buFont typeface="Wingdings,Sans-Serif"/>
              <a:buChar char="§"/>
            </a:pPr>
            <a:r>
              <a:rPr lang="en-US" sz="2000" baseline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Prescriptive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44C8A0-91ED-B28D-5A01-A74A121B4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508" y="1761167"/>
            <a:ext cx="4248989" cy="384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40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8FCD8C4-FFBB-59A9-A291-CE9E90D053F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B3402E5D-E257-F01F-AC81-ADB1F0304942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62439214-98FC-4BE4-FE7C-7613482ECC20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endParaRPr lang="en-US" sz="2400" dirty="0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  <a:p>
            <a:pPr>
              <a:defRPr/>
            </a:pPr>
            <a:r>
              <a:rPr lang="en-US" sz="2400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Week 2 — Advanced ETL Workflows &amp; Data Transformation</a:t>
            </a:r>
            <a:endParaRPr lang="en-US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2400" b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95C59B-8CC1-9AA6-57DA-B9719C6CB43C}"/>
              </a:ext>
            </a:extLst>
          </p:cNvPr>
          <p:cNvSpPr txBox="1"/>
          <p:nvPr/>
        </p:nvSpPr>
        <p:spPr>
          <a:xfrm>
            <a:off x="228600" y="1381066"/>
            <a:ext cx="6247613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Work Done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This week focused on 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ETL (Extract, Transform, Load)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processes using Power Query Editor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Connected datasets from Excel and CSV files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Cleaned inconsistent datasets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Removed duplicate records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Handled missing values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Changed column data types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Performed Pivot and Unpivot operations.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Combined datasets using Merge &amp; Append queries.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Performed Exploratory Data Analysis (EDA).</a:t>
            </a:r>
          </a:p>
          <a:p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Skills Developed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Data cleaning techniques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Query transformation logic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Data profiling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Data normalization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Extract, Transform, Load (ETL). ETL stands for Extract, Transform… | by  DhanushKumar | Medium">
            <a:extLst>
              <a:ext uri="{FF2B5EF4-FFF2-40B4-BE49-F238E27FC236}">
                <a16:creationId xmlns:a16="http://schemas.microsoft.com/office/drawing/2014/main" id="{C312258D-37F5-162F-E6FA-8B9DBD7382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1" r="7694"/>
          <a:stretch>
            <a:fillRect/>
          </a:stretch>
        </p:blipFill>
        <p:spPr bwMode="auto">
          <a:xfrm>
            <a:off x="6589336" y="1885707"/>
            <a:ext cx="5222449" cy="3086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502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E258C08-2A5B-828D-322C-1B05692DD25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E7AC9CC4-5CC2-C1E1-0FAF-CB4D7BAD14A3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2BF7C9B6-D057-657A-5F25-51D3C1E962C6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endParaRPr lang="en-US" sz="2400" b="1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defRPr/>
            </a:pPr>
            <a:r>
              <a:rPr lang="en-US" sz="2400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Week 3 — Semantic Modeling &amp; DAX Development</a:t>
            </a:r>
          </a:p>
          <a:p>
            <a:pPr>
              <a:defRPr/>
            </a:pPr>
            <a:endParaRPr lang="en-US" sz="2400" dirty="0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  <a:p>
            <a:pPr>
              <a:defRPr/>
            </a:pPr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96FD6-D5BE-84FF-AE8D-3FD54C1A6454}"/>
              </a:ext>
            </a:extLst>
          </p:cNvPr>
          <p:cNvSpPr txBox="1"/>
          <p:nvPr/>
        </p:nvSpPr>
        <p:spPr>
          <a:xfrm>
            <a:off x="698063" y="1583141"/>
            <a:ext cx="10037972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Work Done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Focused on building efficient data models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Learned Star Schema architecture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Created Fact 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and 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Dimension tables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Established relationships between tables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Configured cardinality 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and 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filtering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DAX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Calculated Columns 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vs 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Measures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SUM(), AVERAGE(), COUNTROWS()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Filter Context &amp; Row Context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Dashboard Interactivity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Added slicers for filtering.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Implemented bookmarks.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Created tooltips and navigation panels.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Write DAX for a semantic model">
            <a:extLst>
              <a:ext uri="{FF2B5EF4-FFF2-40B4-BE49-F238E27FC236}">
                <a16:creationId xmlns:a16="http://schemas.microsoft.com/office/drawing/2014/main" id="{9F4CC6C2-A323-B0B7-16F8-F9CCCB5F0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993" y="1773929"/>
            <a:ext cx="4537648" cy="350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0882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F1739CE-982F-1858-01BD-65AF982A5B3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D9E7069A-5A07-617A-5F68-B1674FB94826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54A55060-5C11-F19B-6C2A-346C51196E96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2400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Week 4 — Business Intelligence Dashboards &amp; Visualization</a:t>
            </a:r>
          </a:p>
          <a:p>
            <a:pPr>
              <a:defRPr/>
            </a:pPr>
            <a:endParaRPr lang="en-US" sz="2400" b="1" dirty="0">
              <a:solidFill>
                <a:schemeClr val="bg1"/>
              </a:solidFill>
              <a:latin typeface="Gill Sans MT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14ABA-13F8-3A41-CEE7-DEF944EA4D65}"/>
              </a:ext>
            </a:extLst>
          </p:cNvPr>
          <p:cNvSpPr txBox="1"/>
          <p:nvPr/>
        </p:nvSpPr>
        <p:spPr>
          <a:xfrm>
            <a:off x="712107" y="1351643"/>
            <a:ext cx="3900714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Work Done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Designed professional dashboards.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Dashboard Projects Created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📊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COVID-19 </a:t>
            </a:r>
            <a:r>
              <a:rPr lang="en-US" sz="2000" b="1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Analytics 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Active Cases KPI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Death Count Visualization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Discharged Patients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State-wise filtering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Population 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vs 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Cases comparison charts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5C2A3ECA-AF2D-C5A7-8244-9714E3E62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68056"/>
            <a:ext cx="750570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920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CDB3EC3-D93F-3EFF-8BB2-DC94B7D4D27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7CC47639-D6B0-8011-097F-A9ACC73DDFDE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5A218CF0-A372-6F20-0219-1EE8C3FB3445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2400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Week 4 — Business Intelligence Dashboards &amp; Visualization</a:t>
            </a:r>
          </a:p>
          <a:p>
            <a:pPr>
              <a:defRPr/>
            </a:pPr>
            <a:endParaRPr lang="en-US" sz="2400" b="1" dirty="0">
              <a:solidFill>
                <a:schemeClr val="bg1"/>
              </a:solidFill>
              <a:latin typeface="Gill Sans MT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8CEE8D-EC0A-43C9-D3DE-B9753AB1D4F3}"/>
              </a:ext>
            </a:extLst>
          </p:cNvPr>
          <p:cNvSpPr txBox="1"/>
          <p:nvPr/>
        </p:nvSpPr>
        <p:spPr>
          <a:xfrm>
            <a:off x="526412" y="1773929"/>
            <a:ext cx="4236357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Work Done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Designed professional dashboards.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Dashboard Projects Created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📊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Population Analysis 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Pie chart for population distribution.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Bar charts comparing states.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Trend-based insights.</a:t>
            </a: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136CC8BC-8CA2-EA04-2C8D-319E7C939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734" y="2072368"/>
            <a:ext cx="7264854" cy="383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13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5E5EF56-A23F-7982-9D0B-2C96A7B7E8C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8AACECAC-0D0C-37CF-9C39-678D574B8D63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A9E5F8AA-BBAF-E618-3B9A-9147A6B94FA6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2400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Week 4 — Business Intelligence Dashboards &amp; Visualization</a:t>
            </a:r>
          </a:p>
          <a:p>
            <a:pPr>
              <a:defRPr/>
            </a:pPr>
            <a:endParaRPr lang="en-US" sz="2400" b="1" dirty="0">
              <a:solidFill>
                <a:schemeClr val="bg1"/>
              </a:solidFill>
              <a:latin typeface="Gill Sans MT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BB1C6E-60F9-042A-DDFD-5F5B6067940F}"/>
              </a:ext>
            </a:extLst>
          </p:cNvPr>
          <p:cNvSpPr txBox="1"/>
          <p:nvPr/>
        </p:nvSpPr>
        <p:spPr>
          <a:xfrm>
            <a:off x="624278" y="1576256"/>
            <a:ext cx="3967514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Work Done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Designed professional dashboards.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Dashboard Projects Created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📊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Entertainment Dataset Dashboard (Netflix Style)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Genre-based filtering.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Movie vs TV Show comparison.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Interactive slicers.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User-controlled dashboard navigation.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B991A6-949F-F6EA-8542-FE37ECEF7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792" y="1351951"/>
            <a:ext cx="7441871" cy="392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469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83C4D2F-A774-A8C8-0003-290E08B02DA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F15DA838-FF48-BC56-1790-FC3A5F2787F7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2EFBAA12-8231-BB72-B870-DAE63D158C7F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2400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Week 5 — Machine Learning Fundamentals &amp; Milestone Completion</a:t>
            </a:r>
          </a:p>
          <a:p>
            <a:pPr>
              <a:defRPr/>
            </a:pPr>
            <a:endParaRPr lang="en-US" sz="2400" b="1" dirty="0">
              <a:solidFill>
                <a:schemeClr val="bg1"/>
              </a:solidFill>
              <a:latin typeface="Gill Sans MT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C785EA-C812-A068-59C9-7DEA1DC11C85}"/>
              </a:ext>
            </a:extLst>
          </p:cNvPr>
          <p:cNvSpPr txBox="1"/>
          <p:nvPr/>
        </p:nvSpPr>
        <p:spPr>
          <a:xfrm>
            <a:off x="712107" y="1351643"/>
            <a:ext cx="10023928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Work Done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Transitioned from analytics to Machine Learning concepts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Introduction to 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ML Pipeline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Understanding 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supervised learning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Dataset splitting: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Training Set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Validation Set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Testing Set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ML </a:t>
            </a:r>
            <a:r>
              <a:rPr lang="en-US" sz="2000" b="1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Concepts 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Covered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Regression (numeric prediction)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Classification (category prediction)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Model generalization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Feature scaling (theory)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785EA-C812-A068-59C9-7DEA1DC11C85}"/>
              </a:ext>
            </a:extLst>
          </p:cNvPr>
          <p:cNvSpPr txBox="1"/>
          <p:nvPr/>
        </p:nvSpPr>
        <p:spPr bwMode="auto">
          <a:xfrm>
            <a:off x="712107" y="1351643"/>
            <a:ext cx="9968124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Work Done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Transitioned from analytics to Machine Learning concepts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Introduction to 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ML Pipeline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Understanding 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supervised learning</a:t>
            </a:r>
            <a:r>
              <a:rPr lang="en-US" sz="2000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Dataset splitting: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Training Set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Validation Set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Testing Set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ML </a:t>
            </a:r>
            <a:r>
              <a:rPr lang="en-US" sz="2000" b="1" baseline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Concepts 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Covered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Regression (numeric prediction)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Classification (category prediction)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Model generalization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Feature scaling (theory)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Understanding Machine Learning: Core Concepts and Applications | Shivam  Dubey posted on the topic | LinkedIn">
            <a:extLst>
              <a:ext uri="{FF2B5EF4-FFF2-40B4-BE49-F238E27FC236}">
                <a16:creationId xmlns:a16="http://schemas.microsoft.com/office/drawing/2014/main" id="{3EAEC0ED-5E57-ADF7-1761-971E1D934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894" y="1647441"/>
            <a:ext cx="3808429" cy="4117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6570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C6C8D71-EC60-8CFC-5CE2-4B82200E2A8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6DE5E5D2-4512-57DC-163B-CF34EA122C7D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E27E2971-394D-F8DE-232A-7D194F80FD89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6 —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&amp; ANN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3E3ECDB-AC5A-00A5-6DFE-40EB59E54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12" y="1514669"/>
            <a:ext cx="6516546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Work Done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fundamentals.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Artificial Neural Networks (ANN).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patterns in complex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real-world AI applications in healthcare, finance, and education.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Learned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Input, Hidden, and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weights, biases, and activation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shallow learning and deep neural pipelines.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3" name="Picture 9" descr="Deep learning architectures">
            <a:extLst>
              <a:ext uri="{FF2B5EF4-FFF2-40B4-BE49-F238E27FC236}">
                <a16:creationId xmlns:a16="http://schemas.microsoft.com/office/drawing/2014/main" id="{B4557F6E-FF91-F120-78C6-C5C98189E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249" y="1514669"/>
            <a:ext cx="4140047" cy="4346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37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75AEE89-5C3D-141D-F985-7A0E15C39C8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C276C0FA-EA44-82F8-E25C-99BDAFDA75A0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6405A33A-A1A9-2090-5B1A-F4C968449660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 — 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(CNN) &amp; Generative AI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52D3773-081B-C3F1-83CC-9F96345B8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343" y="1514669"/>
            <a:ext cx="4976362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Work Done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and generative systems.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Generative AI in modern automation.</a:t>
            </a:r>
          </a:p>
          <a:p>
            <a:r>
              <a:rPr lang="en-GB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vision-based architecture components</a:t>
            </a:r>
            <a:r>
              <a:rPr lang="en-GB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GB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Pooling layers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Padding techniques for data retention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Large Language Models (LLMs).</a:t>
            </a:r>
          </a:p>
          <a:p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Learned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Computer vision fundamentals.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Ethical considerations in Generative AI usage.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AI-assisted content creation and data summarization.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 descr="CNNs vs. GANs: Key Differences in Deep Learning Explained">
            <a:extLst>
              <a:ext uri="{FF2B5EF4-FFF2-40B4-BE49-F238E27FC236}">
                <a16:creationId xmlns:a16="http://schemas.microsoft.com/office/drawing/2014/main" id="{F6620BFD-FCE6-AF4F-3A49-BC70A3C75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994" y="1584768"/>
            <a:ext cx="6979450" cy="195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What is a Convolutional Neural Network? An Engineer's Guide">
            <a:extLst>
              <a:ext uri="{FF2B5EF4-FFF2-40B4-BE49-F238E27FC236}">
                <a16:creationId xmlns:a16="http://schemas.microsoft.com/office/drawing/2014/main" id="{BE11C20E-5816-6B24-1AA8-049084471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251" y="3627526"/>
            <a:ext cx="6215406" cy="301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538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A1F3445-53EF-79A2-C83E-27C6CD0ADB9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42015E48-B3DF-13D3-0096-8C82017D6A81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2C9544AA-C660-68DD-1AFB-8347CAC108BF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 —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Copilot &amp; Cloud Fundamentals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A66AF89-106D-3ED5-AA6A-457270D6F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35430"/>
            <a:ext cx="6850931" cy="423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Work Done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Transitioned to productivity tools and global cloud infrastructure.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Copilot as an AI assistant.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and the Microsoft Azure.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global infrastructure and data </a:t>
            </a:r>
            <a:r>
              <a:rPr lang="en-GB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concepts.</a:t>
            </a:r>
          </a:p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Models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as a Service (IaaS)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as a Service (PaaS)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as a Service (SaaS) </a:t>
            </a:r>
          </a:p>
          <a:p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Concepts Learned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 of AI in professional automation and productivity.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subscriptions and resource group organizations.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cloud scalability, security, and cost-efficiency.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Microsoft 365 Copilot: AI Integration in the">
            <a:extLst>
              <a:ext uri="{FF2B5EF4-FFF2-40B4-BE49-F238E27FC236}">
                <a16:creationId xmlns:a16="http://schemas.microsoft.com/office/drawing/2014/main" id="{0576CB24-663F-C988-F44F-C242EF15D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457" y="1437652"/>
            <a:ext cx="4774595" cy="261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rtificial Intelligence overview - Microsoft Service Assurance | Microsoft  Learn">
            <a:extLst>
              <a:ext uri="{FF2B5EF4-FFF2-40B4-BE49-F238E27FC236}">
                <a16:creationId xmlns:a16="http://schemas.microsoft.com/office/drawing/2014/main" id="{6E790376-A45F-8AE9-1E0D-5C0C3A241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066" y="3850858"/>
            <a:ext cx="3632451" cy="272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3880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EE7CC35-3B3D-A704-3E0D-5AFB7C10FA7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343627B0-DFE5-091C-72D9-1B781B232747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6A7C89FB-612C-9BB3-3CE4-D37037EC1849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9 —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Experiments &amp; Administration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C5931D4-DA9F-542F-BC25-91453F895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96930"/>
            <a:ext cx="6492711" cy="450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Work Done</a:t>
            </a: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 and management of cloud resources.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labs for deploying and managing virtual machines (VMs).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virtual networking and access control protocols.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identity and access management (IAM) strategies.</a:t>
            </a:r>
          </a:p>
          <a:p>
            <a:pPr lvl="1">
              <a:lnSpc>
                <a:spcPct val="150000"/>
              </a:lnSpc>
            </a:pP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 Areas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resource management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monitoring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security and auditing </a:t>
            </a:r>
          </a:p>
          <a:p>
            <a:pPr lvl="1">
              <a:lnSpc>
                <a:spcPct val="150000"/>
              </a:lnSpc>
            </a:pP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Learned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secure and efficient cloud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network isolation and connectivity management.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for cost-effective computing in the cloud.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Administrator guide using lab accounts - Azure Lab Services | Microsoft  Learn">
            <a:extLst>
              <a:ext uri="{FF2B5EF4-FFF2-40B4-BE49-F238E27FC236}">
                <a16:creationId xmlns:a16="http://schemas.microsoft.com/office/drawing/2014/main" id="{73F5BBAB-396E-E386-2094-EBB006123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362" y="1496930"/>
            <a:ext cx="4404062" cy="477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4508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F974FAC-BB73-DEFB-D9A2-24B7A854698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43FDFE39-382A-4F3D-92EB-736F1B2C0F22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A7465E3C-B4F8-93A9-5FD0-660C3A73D83B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10 —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Operations &amp; Milestone Completion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225439D-3A3C-D9B8-2436-67F25EB53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87" y="1525786"/>
            <a:ext cx="6722098" cy="4785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Work Done</a:t>
            </a: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advanced technical labs and finalized program requirements.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advanced Azure experiments with SQL databases.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backup and disaster recovery frameworks.</a:t>
            </a:r>
          </a:p>
          <a:p>
            <a:pPr lvl="1"/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&amp; Review Highlights: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technical skill verification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industry readiness goals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Summarized learning outcomes across Data, AI, and Cloud modules.</a:t>
            </a:r>
          </a:p>
          <a:p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Learned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business continuity through cloud-based disaster recovery.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 of cloud and AI technologies.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opportunities in the modern Data and Cloud sectors.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A1D1C-6DD6-B134-9F01-75C1BF19E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827" y="2157889"/>
            <a:ext cx="5890173" cy="254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220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7363E5C-147D-60F2-977D-0402DC313D6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91150" name="TextBox 15">
            <a:extLst>
              <a:ext uri="{FF2B5EF4-FFF2-40B4-BE49-F238E27FC236}">
                <a16:creationId xmlns:a16="http://schemas.microsoft.com/office/drawing/2014/main" id="{E091D67F-AC21-85B5-F38E-023ADF1B4E41}"/>
              </a:ext>
            </a:extLst>
          </p:cNvPr>
          <p:cNvSpPr txBox="1"/>
          <p:nvPr/>
        </p:nvSpPr>
        <p:spPr bwMode="auto">
          <a:xfrm>
            <a:off x="838199" y="1255410"/>
            <a:ext cx="10827389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bg1"/>
                </a:solidFill>
                <a:latin typeface="Bookman Old Style"/>
              </a:rPr>
              <a:t>OF PRESENTATION</a:t>
            </a:r>
            <a:r>
              <a:rPr lang="en-US" sz="2800">
                <a:solidFill>
                  <a:srgbClr val="C00000"/>
                </a:solidFill>
                <a:latin typeface="Bookman Old Style"/>
              </a:rPr>
              <a:t> </a:t>
            </a:r>
            <a:endParaRPr lang="en-US" sz="2800">
              <a:latin typeface="Bookman Old Style"/>
            </a:endParaRPr>
          </a:p>
        </p:txBody>
      </p:sp>
      <p:sp>
        <p:nvSpPr>
          <p:cNvPr id="400375759" name="Rectangle 19">
            <a:extLst>
              <a:ext uri="{FF2B5EF4-FFF2-40B4-BE49-F238E27FC236}">
                <a16:creationId xmlns:a16="http://schemas.microsoft.com/office/drawing/2014/main" id="{C31B0E23-EA5B-1C63-D7B9-53DAC77F9243}"/>
              </a:ext>
            </a:extLst>
          </p:cNvPr>
          <p:cNvSpPr/>
          <p:nvPr/>
        </p:nvSpPr>
        <p:spPr bwMode="auto">
          <a:xfrm>
            <a:off x="228600" y="152399"/>
            <a:ext cx="8229600" cy="110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 Gained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EB7A913-7797-1D72-62F0-81756C0AB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47" y="1773929"/>
            <a:ext cx="7682846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internship, proficiency was developed in the following technical domains: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&amp; BI</a:t>
            </a:r>
            <a:r>
              <a:rPr lang="en-GB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Mastery of ETL workflows, Power Query, and interactive Power BI dashboards.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GB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Practical understanding of Supervised, Unsupervised, and Deep Learning pipelines.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Frameworks</a:t>
            </a:r>
            <a:r>
              <a:rPr lang="en-GB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Hands-on experience with ANN, CNN, TensorFlow, and </a:t>
            </a:r>
            <a:r>
              <a:rPr lang="en-GB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GB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Engineering</a:t>
            </a:r>
            <a:r>
              <a:rPr lang="en-GB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Expertise in Microsoft Azure administration, virtual networking, and resource management.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</a:t>
            </a:r>
            <a:r>
              <a:rPr lang="en-GB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Advanced usage of Microsoft Copilot and prompt engineering for professional productivity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6">
            <a:extLst>
              <a:ext uri="{FF2B5EF4-FFF2-40B4-BE49-F238E27FC236}">
                <a16:creationId xmlns:a16="http://schemas.microsoft.com/office/drawing/2014/main" id="{29FB5646-A5F0-3B21-16BD-7A688FD7B7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67953" y="1840397"/>
            <a:ext cx="1595980" cy="4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30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637229" name="Rectangle 7"/>
          <p:cNvSpPr/>
          <p:nvPr/>
        </p:nvSpPr>
        <p:spPr bwMode="auto">
          <a:xfrm>
            <a:off x="3876280" y="2514600"/>
            <a:ext cx="436529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defRPr/>
            </a:pPr>
            <a:r>
              <a:rPr lang="en-US" sz="9600" b="1" cap="none" spc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 scaled="1"/>
                </a:gradFill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Dividend">
      <a:fillStyleLst>
        <a:solidFill>
          <a:schemeClr val="phClr"/>
        </a:solidFill>
        <a:gradFill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76</TotalTime>
  <Words>1970</Words>
  <Application>Microsoft Office PowerPoint</Application>
  <PresentationFormat>Widescreen</PresentationFormat>
  <Paragraphs>352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Arial Rounded MT Bold</vt:lpstr>
      <vt:lpstr>Arial,Sans-Serif</vt:lpstr>
      <vt:lpstr>Bookman Old Style</vt:lpstr>
      <vt:lpstr>Calibri</vt:lpstr>
      <vt:lpstr>Gill Sans MT</vt:lpstr>
      <vt:lpstr>Times New Roman</vt:lpstr>
      <vt:lpstr>URW Bookman</vt:lpstr>
      <vt:lpstr>Wingdings 2</vt:lpstr>
      <vt:lpstr>Wingdings,Sans-Serif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Engineering</dc:title>
  <dc:creator>admin</dc:creator>
  <cp:lastModifiedBy>Parth Vadodariya</cp:lastModifiedBy>
  <cp:revision>124</cp:revision>
  <dcterms:created xsi:type="dcterms:W3CDTF">2016-01-19T08:21:59Z</dcterms:created>
  <dcterms:modified xsi:type="dcterms:W3CDTF">2026-04-01T07:47:57Z</dcterms:modified>
</cp:coreProperties>
</file>